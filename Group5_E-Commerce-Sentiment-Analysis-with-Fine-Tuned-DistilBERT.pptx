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8288000" cy="10287000"/>
  <p:notesSz cx="6858000" cy="9144000"/>
  <p:embeddedFontLst>
    <p:embeddedFont>
      <p:font typeface="Raleway" pitchFamily="2" charset="0"/>
      <p:regular r:id="rId12"/>
      <p:bold r:id="rId13"/>
    </p:embeddedFont>
    <p:embeddedFont>
      <p:font typeface="Raleway Bold" charset="0"/>
      <p:regular r:id="rId14"/>
    </p:embeddedFont>
    <p:embeddedFont>
      <p:font typeface="Roboto" panose="02000000000000000000" pitchFamily="2" charset="0"/>
      <p:regular r:id="rId15"/>
    </p:embeddedFont>
    <p:embeddedFont>
      <p:font typeface="Roboto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0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8A8B2-9F47-B068-9A95-6D567F77D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13ED15-4B4F-F81D-A4CD-9EF827C2E4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D73EA0-FD9D-C367-5098-0AE2E038903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6A15BC4-E6C7-3FEE-3A38-EF9B3E8CC1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43DE762-4F6A-4D02-DDE5-11CE6A62BE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A06F5-4B06-C94B-3014-7019FE26E7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9F1884-4D70-6326-6FFA-99710356D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4100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2238" y="3346549"/>
            <a:ext cx="9445526" cy="17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937"/>
              </a:lnSpc>
            </a:pPr>
            <a:r>
              <a:rPr lang="en-US" sz="5562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E-Commerce Product Review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6362997"/>
            <a:ext cx="9445526" cy="87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62"/>
              </a:lnSpc>
            </a:pPr>
            <a:r>
              <a:rPr lang="en-US" sz="2187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Automated Sentiment Classification to analyze e-commerce reviews and identify user sentiment </a:t>
            </a:r>
          </a:p>
        </p:txBody>
      </p:sp>
      <p:pic>
        <p:nvPicPr>
          <p:cNvPr id="1026" name="Picture 2" descr="Amazon Product Reviews 101 For D2C Brands - Velocity">
            <a:extLst>
              <a:ext uri="{FF2B5EF4-FFF2-40B4-BE49-F238E27FC236}">
                <a16:creationId xmlns:a16="http://schemas.microsoft.com/office/drawing/2014/main" id="{E777B791-E372-3875-A880-6A35C208EC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6" t="5701" r="13378" b="9925"/>
          <a:stretch>
            <a:fillRect/>
          </a:stretch>
        </p:blipFill>
        <p:spPr bwMode="auto">
          <a:xfrm>
            <a:off x="10210800" y="35801"/>
            <a:ext cx="8077200" cy="10155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1955" y="-2581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80101" y="1125936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4400" b="1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Team Details: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0101" y="2511698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Group-5(TITANS)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4192" y="3534126"/>
            <a:ext cx="16303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Sec-V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87475" y="4422427"/>
            <a:ext cx="16313051" cy="3639145"/>
            <a:chOff x="0" y="0"/>
            <a:chExt cx="21750735" cy="48521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50782" cy="4852162"/>
            </a:xfrm>
            <a:custGeom>
              <a:avLst/>
              <a:gdLst/>
              <a:ahLst/>
              <a:cxnLst/>
              <a:rect l="l" t="t" r="r" b="b"/>
              <a:pathLst>
                <a:path w="21750782" h="4852162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21585301" y="0"/>
                  </a:lnTo>
                  <a:lnTo>
                    <a:pt x="21585301" y="6350"/>
                  </a:lnTo>
                  <a:lnTo>
                    <a:pt x="21585301" y="0"/>
                  </a:lnTo>
                  <a:cubicBezTo>
                    <a:pt x="21676613" y="0"/>
                    <a:pt x="21750782" y="73914"/>
                    <a:pt x="21750782" y="165100"/>
                  </a:cubicBezTo>
                  <a:lnTo>
                    <a:pt x="21744432" y="165100"/>
                  </a:lnTo>
                  <a:lnTo>
                    <a:pt x="21750782" y="165100"/>
                  </a:lnTo>
                  <a:lnTo>
                    <a:pt x="21750782" y="4687062"/>
                  </a:lnTo>
                  <a:lnTo>
                    <a:pt x="21744432" y="4687062"/>
                  </a:lnTo>
                  <a:lnTo>
                    <a:pt x="21750782" y="4687062"/>
                  </a:lnTo>
                  <a:cubicBezTo>
                    <a:pt x="21750782" y="4778248"/>
                    <a:pt x="21676740" y="4852162"/>
                    <a:pt x="21585301" y="4852162"/>
                  </a:cubicBezTo>
                  <a:lnTo>
                    <a:pt x="21585301" y="4845812"/>
                  </a:lnTo>
                  <a:lnTo>
                    <a:pt x="21585301" y="4852162"/>
                  </a:lnTo>
                  <a:lnTo>
                    <a:pt x="165481" y="4852162"/>
                  </a:lnTo>
                  <a:lnTo>
                    <a:pt x="165481" y="4845812"/>
                  </a:lnTo>
                  <a:lnTo>
                    <a:pt x="165481" y="4852162"/>
                  </a:lnTo>
                  <a:cubicBezTo>
                    <a:pt x="74168" y="4852162"/>
                    <a:pt x="0" y="4778248"/>
                    <a:pt x="0" y="468706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687062"/>
                  </a:lnTo>
                  <a:lnTo>
                    <a:pt x="6350" y="4687062"/>
                  </a:lnTo>
                  <a:lnTo>
                    <a:pt x="12700" y="4687062"/>
                  </a:lnTo>
                  <a:cubicBezTo>
                    <a:pt x="12700" y="4771263"/>
                    <a:pt x="81026" y="4839462"/>
                    <a:pt x="165481" y="4839462"/>
                  </a:cubicBezTo>
                  <a:lnTo>
                    <a:pt x="21585301" y="4839462"/>
                  </a:lnTo>
                  <a:cubicBezTo>
                    <a:pt x="21669629" y="4839462"/>
                    <a:pt x="21738082" y="4771263"/>
                    <a:pt x="21738082" y="4687062"/>
                  </a:cubicBezTo>
                  <a:lnTo>
                    <a:pt x="21738082" y="165100"/>
                  </a:lnTo>
                  <a:cubicBezTo>
                    <a:pt x="21738082" y="80899"/>
                    <a:pt x="21669756" y="12700"/>
                    <a:pt x="21585301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1762" y="4436715"/>
            <a:ext cx="16284476" cy="722114"/>
            <a:chOff x="0" y="0"/>
            <a:chExt cx="21712635" cy="9628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12682" cy="962787"/>
            </a:xfrm>
            <a:custGeom>
              <a:avLst/>
              <a:gdLst/>
              <a:ahLst/>
              <a:cxnLst/>
              <a:rect l="l" t="t" r="r" b="b"/>
              <a:pathLst>
                <a:path w="21712682" h="962787">
                  <a:moveTo>
                    <a:pt x="0" y="0"/>
                  </a:moveTo>
                  <a:lnTo>
                    <a:pt x="21712682" y="0"/>
                  </a:lnTo>
                  <a:lnTo>
                    <a:pt x="21712682" y="962787"/>
                  </a:lnTo>
                  <a:lnTo>
                    <a:pt x="0" y="96278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85280" y="4540151"/>
            <a:ext cx="7570440" cy="439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S.Yashwanth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32280" y="4540151"/>
            <a:ext cx="7570440" cy="439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AP23110010745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01762" y="5158829"/>
            <a:ext cx="16284476" cy="722114"/>
            <a:chOff x="0" y="0"/>
            <a:chExt cx="21712635" cy="96281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712682" cy="962787"/>
            </a:xfrm>
            <a:custGeom>
              <a:avLst/>
              <a:gdLst/>
              <a:ahLst/>
              <a:cxnLst/>
              <a:rect l="l" t="t" r="r" b="b"/>
              <a:pathLst>
                <a:path w="21712682" h="962787">
                  <a:moveTo>
                    <a:pt x="0" y="0"/>
                  </a:moveTo>
                  <a:lnTo>
                    <a:pt x="21712682" y="0"/>
                  </a:lnTo>
                  <a:lnTo>
                    <a:pt x="21712682" y="962787"/>
                  </a:lnTo>
                  <a:lnTo>
                    <a:pt x="0" y="9627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85280" y="5262265"/>
            <a:ext cx="7570440" cy="43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L.Yaswanth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32280" y="5262265"/>
            <a:ext cx="7570440" cy="43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AP23110010490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01762" y="5880944"/>
            <a:ext cx="16284476" cy="722114"/>
            <a:chOff x="0" y="0"/>
            <a:chExt cx="21712635" cy="9628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712682" cy="962787"/>
            </a:xfrm>
            <a:custGeom>
              <a:avLst/>
              <a:gdLst/>
              <a:ahLst/>
              <a:cxnLst/>
              <a:rect l="l" t="t" r="r" b="b"/>
              <a:pathLst>
                <a:path w="21712682" h="962787">
                  <a:moveTo>
                    <a:pt x="0" y="0"/>
                  </a:moveTo>
                  <a:lnTo>
                    <a:pt x="21712682" y="0"/>
                  </a:lnTo>
                  <a:lnTo>
                    <a:pt x="21712682" y="962787"/>
                  </a:lnTo>
                  <a:lnTo>
                    <a:pt x="0" y="96278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85280" y="5984379"/>
            <a:ext cx="7570440" cy="43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Raghavendra reddy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32280" y="5984379"/>
            <a:ext cx="7570440" cy="43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AP23110010080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01762" y="6603058"/>
            <a:ext cx="16284476" cy="722114"/>
            <a:chOff x="0" y="0"/>
            <a:chExt cx="21712635" cy="96281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712682" cy="962787"/>
            </a:xfrm>
            <a:custGeom>
              <a:avLst/>
              <a:gdLst/>
              <a:ahLst/>
              <a:cxnLst/>
              <a:rect l="l" t="t" r="r" b="b"/>
              <a:pathLst>
                <a:path w="21712682" h="962787">
                  <a:moveTo>
                    <a:pt x="0" y="0"/>
                  </a:moveTo>
                  <a:lnTo>
                    <a:pt x="21712682" y="0"/>
                  </a:lnTo>
                  <a:lnTo>
                    <a:pt x="21712682" y="962787"/>
                  </a:lnTo>
                  <a:lnTo>
                    <a:pt x="0" y="9627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85280" y="6706492"/>
            <a:ext cx="7570440" cy="43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ABDUL BASITH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32280" y="6706492"/>
            <a:ext cx="7570440" cy="43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AP23110011061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01762" y="7325171"/>
            <a:ext cx="16284476" cy="722114"/>
            <a:chOff x="0" y="0"/>
            <a:chExt cx="21712635" cy="96281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712682" cy="962787"/>
            </a:xfrm>
            <a:custGeom>
              <a:avLst/>
              <a:gdLst/>
              <a:ahLst/>
              <a:cxnLst/>
              <a:rect l="l" t="t" r="r" b="b"/>
              <a:pathLst>
                <a:path w="21712682" h="962787">
                  <a:moveTo>
                    <a:pt x="0" y="0"/>
                  </a:moveTo>
                  <a:lnTo>
                    <a:pt x="21712682" y="0"/>
                  </a:lnTo>
                  <a:lnTo>
                    <a:pt x="21712682" y="962787"/>
                  </a:lnTo>
                  <a:lnTo>
                    <a:pt x="0" y="96278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285280" y="7428608"/>
            <a:ext cx="7570440" cy="43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P. Lokesh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32280" y="7428608"/>
            <a:ext cx="7570440" cy="43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AP23110011576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619" y="11061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73188" y="995736"/>
            <a:ext cx="10667702" cy="914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Problem Statement &amp; Objectives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73188" y="3479304"/>
            <a:ext cx="16341626" cy="2290316"/>
            <a:chOff x="0" y="0"/>
            <a:chExt cx="21788835" cy="3053755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21737955" cy="3002915"/>
            </a:xfrm>
            <a:custGeom>
              <a:avLst/>
              <a:gdLst/>
              <a:ahLst/>
              <a:cxnLst/>
              <a:rect l="l" t="t" r="r" b="b"/>
              <a:pathLst>
                <a:path w="21737955" h="3002915">
                  <a:moveTo>
                    <a:pt x="0" y="158750"/>
                  </a:moveTo>
                  <a:cubicBezTo>
                    <a:pt x="0" y="71120"/>
                    <a:pt x="72136" y="0"/>
                    <a:pt x="161036" y="0"/>
                  </a:cubicBezTo>
                  <a:lnTo>
                    <a:pt x="21576919" y="0"/>
                  </a:lnTo>
                  <a:cubicBezTo>
                    <a:pt x="21665819" y="0"/>
                    <a:pt x="21737955" y="71120"/>
                    <a:pt x="21737955" y="158750"/>
                  </a:cubicBezTo>
                  <a:lnTo>
                    <a:pt x="21737955" y="2844165"/>
                  </a:lnTo>
                  <a:cubicBezTo>
                    <a:pt x="21737955" y="2931795"/>
                    <a:pt x="21665819" y="3002915"/>
                    <a:pt x="21576919" y="3002915"/>
                  </a:cubicBezTo>
                  <a:lnTo>
                    <a:pt x="161036" y="3002915"/>
                  </a:lnTo>
                  <a:cubicBezTo>
                    <a:pt x="72136" y="3002915"/>
                    <a:pt x="0" y="2931795"/>
                    <a:pt x="0" y="2844165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21788755" cy="3053715"/>
            </a:xfrm>
            <a:custGeom>
              <a:avLst/>
              <a:gdLst/>
              <a:ahLst/>
              <a:cxnLst/>
              <a:rect l="l" t="t" r="r" b="b"/>
              <a:pathLst>
                <a:path w="21788755" h="3053715">
                  <a:moveTo>
                    <a:pt x="0" y="184150"/>
                  </a:moveTo>
                  <a:cubicBezTo>
                    <a:pt x="0" y="82169"/>
                    <a:pt x="83820" y="0"/>
                    <a:pt x="186436" y="0"/>
                  </a:cubicBezTo>
                  <a:lnTo>
                    <a:pt x="21602319" y="0"/>
                  </a:lnTo>
                  <a:lnTo>
                    <a:pt x="21602319" y="25400"/>
                  </a:lnTo>
                  <a:lnTo>
                    <a:pt x="21602319" y="0"/>
                  </a:lnTo>
                  <a:cubicBezTo>
                    <a:pt x="21704934" y="0"/>
                    <a:pt x="21788755" y="82169"/>
                    <a:pt x="21788755" y="184150"/>
                  </a:cubicBezTo>
                  <a:lnTo>
                    <a:pt x="21763355" y="184150"/>
                  </a:lnTo>
                  <a:lnTo>
                    <a:pt x="21788755" y="184150"/>
                  </a:lnTo>
                  <a:lnTo>
                    <a:pt x="21788755" y="2869565"/>
                  </a:lnTo>
                  <a:lnTo>
                    <a:pt x="21763355" y="2869565"/>
                  </a:lnTo>
                  <a:lnTo>
                    <a:pt x="21788755" y="2869565"/>
                  </a:lnTo>
                  <a:cubicBezTo>
                    <a:pt x="21788755" y="2971673"/>
                    <a:pt x="21704934" y="3053715"/>
                    <a:pt x="21602319" y="3053715"/>
                  </a:cubicBezTo>
                  <a:lnTo>
                    <a:pt x="21602319" y="3028315"/>
                  </a:lnTo>
                  <a:lnTo>
                    <a:pt x="21602319" y="3053715"/>
                  </a:lnTo>
                  <a:lnTo>
                    <a:pt x="186436" y="3053715"/>
                  </a:lnTo>
                  <a:lnTo>
                    <a:pt x="186436" y="3028315"/>
                  </a:lnTo>
                  <a:lnTo>
                    <a:pt x="186436" y="3053715"/>
                  </a:lnTo>
                  <a:cubicBezTo>
                    <a:pt x="83820" y="3053715"/>
                    <a:pt x="0" y="2971673"/>
                    <a:pt x="0" y="2869565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869565"/>
                  </a:lnTo>
                  <a:lnTo>
                    <a:pt x="25400" y="2869565"/>
                  </a:lnTo>
                  <a:lnTo>
                    <a:pt x="50800" y="2869565"/>
                  </a:lnTo>
                  <a:cubicBezTo>
                    <a:pt x="50800" y="2942844"/>
                    <a:pt x="111252" y="3002915"/>
                    <a:pt x="186436" y="3002915"/>
                  </a:cubicBezTo>
                  <a:lnTo>
                    <a:pt x="21602319" y="3002915"/>
                  </a:lnTo>
                  <a:cubicBezTo>
                    <a:pt x="21677630" y="3002915"/>
                    <a:pt x="21737955" y="2942844"/>
                    <a:pt x="21737955" y="2869565"/>
                  </a:cubicBezTo>
                  <a:lnTo>
                    <a:pt x="21737955" y="184150"/>
                  </a:lnTo>
                  <a:cubicBezTo>
                    <a:pt x="21737955" y="110871"/>
                    <a:pt x="21677503" y="50800"/>
                    <a:pt x="21602319" y="50800"/>
                  </a:cubicBezTo>
                  <a:lnTo>
                    <a:pt x="186436" y="50800"/>
                  </a:lnTo>
                  <a:lnTo>
                    <a:pt x="186436" y="25400"/>
                  </a:lnTo>
                  <a:lnTo>
                    <a:pt x="186436" y="50800"/>
                  </a:lnTo>
                  <a:cubicBezTo>
                    <a:pt x="111252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13855" y="3791396"/>
            <a:ext cx="7722542" cy="560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The Challenge: Manual Review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3855" y="4426446"/>
            <a:ext cx="15660291" cy="87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E-commerce platforms are flooded with hundreds of product reviews daily. Manually </a:t>
            </a:r>
            <a:r>
              <a:rPr lang="en-US" sz="2187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analysing</a:t>
            </a:r>
            <a:r>
              <a:rPr lang="en-US" sz="2187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these reviews is not only time consuming and inefficient.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1098500" y="6078290"/>
            <a:ext cx="425203" cy="425202"/>
          </a:xfrm>
          <a:custGeom>
            <a:avLst/>
            <a:gdLst/>
            <a:ahLst/>
            <a:cxnLst/>
            <a:rect l="l" t="t" r="r" b="b"/>
            <a:pathLst>
              <a:path w="425203" h="425202">
                <a:moveTo>
                  <a:pt x="0" y="0"/>
                </a:moveTo>
                <a:lnTo>
                  <a:pt x="425202" y="0"/>
                </a:lnTo>
                <a:lnTo>
                  <a:pt x="425202" y="425202"/>
                </a:lnTo>
                <a:lnTo>
                  <a:pt x="0" y="4252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r="-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913632" y="6040934"/>
            <a:ext cx="7451229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Project Objectives: Driving Actionable Insights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13632" y="6587281"/>
            <a:ext cx="15382131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Develop a machine learning model for sentiment classification.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13632" y="7140029"/>
            <a:ext cx="15382131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Extract specific product aspects (e.g., battery, price, design) and their associated sentiments.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13632" y="7692778"/>
            <a:ext cx="15382131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Create a scalable, production-ready application for seamless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30287" y="466725"/>
            <a:ext cx="6347520" cy="591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Proposed Solution &amp; Workflow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0287" y="1351657"/>
            <a:ext cx="17027426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Our solution is an automated, end-to-end Machine Learning system designed to </a:t>
            </a:r>
            <a:r>
              <a:rPr lang="en-US" sz="200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analyse</a:t>
            </a:r>
            <a:r>
              <a:rPr lang="en-US" sz="2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e-commerce reviews. It leverages a fine-tuned </a:t>
            </a:r>
            <a:r>
              <a:rPr lang="en-US" sz="2000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DistilBERT</a:t>
            </a:r>
            <a:r>
              <a:rPr lang="en-US" sz="2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model for sentiment classification, extracts key product aspects, and provides real-time analytics.</a:t>
            </a: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5014180" y="2674423"/>
            <a:ext cx="8488352" cy="6549053"/>
            <a:chOff x="0" y="0"/>
            <a:chExt cx="16011128" cy="12353132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6011144" cy="12353163"/>
            </a:xfrm>
            <a:custGeom>
              <a:avLst/>
              <a:gdLst/>
              <a:ahLst/>
              <a:cxnLst/>
              <a:rect l="l" t="t" r="r" b="b"/>
              <a:pathLst>
                <a:path w="16011144" h="12353163">
                  <a:moveTo>
                    <a:pt x="0" y="0"/>
                  </a:moveTo>
                  <a:lnTo>
                    <a:pt x="16011144" y="0"/>
                  </a:lnTo>
                  <a:lnTo>
                    <a:pt x="16011144" y="12353163"/>
                  </a:lnTo>
                  <a:lnTo>
                    <a:pt x="0" y="12353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" b="-4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199622" y="5494970"/>
            <a:ext cx="2094329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2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End-to-end </a:t>
            </a:r>
          </a:p>
          <a:p>
            <a:pPr algn="ctr">
              <a:lnSpc>
                <a:spcPts val="2062"/>
              </a:lnSpc>
            </a:pPr>
            <a:r>
              <a:rPr lang="en-US" sz="2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ML</a:t>
            </a:r>
          </a:p>
          <a:p>
            <a:pPr algn="ctr">
              <a:lnSpc>
                <a:spcPts val="2062"/>
              </a:lnSpc>
            </a:pPr>
            <a:r>
              <a:rPr lang="en-US" sz="2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Workflow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85695" y="7490423"/>
            <a:ext cx="3115689" cy="976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Model processes text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9214" y="7773967"/>
            <a:ext cx="3115689" cy="775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DistilBERT</a:t>
            </a:r>
            <a:r>
              <a:rPr lang="en-US" sz="1312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sentiment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24095" y="5173990"/>
            <a:ext cx="3183796" cy="523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Dashboard displays </a:t>
            </a:r>
          </a:p>
          <a:p>
            <a:pPr algn="ctr">
              <a:lnSpc>
                <a:spcPts val="2062"/>
              </a:lnSpc>
            </a:pPr>
            <a:r>
              <a:rPr lang="en-US" sz="1687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insights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24095" y="5796676"/>
            <a:ext cx="3183796" cy="775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Visualise</a:t>
            </a:r>
            <a:r>
              <a:rPr lang="en-US" sz="1312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sentiment &amp; aspects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27983" y="7514104"/>
            <a:ext cx="3115689" cy="497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Results stored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00944" y="7873508"/>
            <a:ext cx="3115689" cy="3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Persist in database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0110" y="5313877"/>
            <a:ext cx="3183796" cy="497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API request sent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91697" y="5752633"/>
            <a:ext cx="3183796" cy="3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Secure HTTP call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70364" y="3069365"/>
            <a:ext cx="3200824" cy="976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687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User submits review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70364" y="3523343"/>
            <a:ext cx="3200824" cy="3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sz="1312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Frontend interaction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7063" y="9195869"/>
            <a:ext cx="17027426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000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This streamlined workflow ensures rapid processing of user input and efficient delivery of insights to a comprehensive dashboard</a:t>
            </a:r>
            <a:r>
              <a:rPr lang="en-US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798141"/>
            <a:ext cx="7737127" cy="914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Dataset &amp; Methodology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392835"/>
            <a:ext cx="4252912" cy="560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Dataset Details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141291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Source: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IMDB Movie Reviews (HuggingFace)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694039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Total Samples: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50,000 reviews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5246786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Train/Test Split: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25,000 training + 25,000 testing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799535"/>
            <a:ext cx="780588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Class Distribution: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50% Positive, 50% Negative (perfectly balanced)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6805910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Average Review Length: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250 tokens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7358658"/>
            <a:ext cx="780588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Preprocessing: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HTML tag removal, tokenisation, padding to 256 tokens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401" y="3392835"/>
            <a:ext cx="4252912" cy="560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Methodology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99401" y="4141291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Base Model: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DistilBERT.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99401" y="4694039"/>
            <a:ext cx="780588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Fine-tuning Strategy:</a:t>
            </a: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Transfer learning on the IMDB dataset for domain adaptation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99401" y="5700415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Training Configuration: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99401" y="6253162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8527" lvl="2" indent="-252842" algn="l">
              <a:lnSpc>
                <a:spcPts val="3562"/>
              </a:lnSpc>
              <a:buFont typeface="Arial"/>
              <a:buChar char="⚬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Batch Size: 16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99401" y="6805910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8527" lvl="2" indent="-252842" algn="l">
              <a:lnSpc>
                <a:spcPts val="3562"/>
              </a:lnSpc>
              <a:buFont typeface="Arial"/>
              <a:buChar char="⚬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Epochs: 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99401" y="7358658"/>
            <a:ext cx="780588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8527" lvl="2" indent="-252842" algn="l">
              <a:lnSpc>
                <a:spcPts val="3562"/>
              </a:lnSpc>
              <a:buFont typeface="Arial"/>
              <a:buChar char="⚬"/>
            </a:pPr>
            <a:r>
              <a:rPr lang="en-US" sz="2187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Learning Rate: 2e-5 with 500 warmup steps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436792" y="432346"/>
            <a:ext cx="4134594" cy="545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5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Technologies Used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436792" y="1473547"/>
            <a:ext cx="10272415" cy="2508646"/>
            <a:chOff x="0" y="0"/>
            <a:chExt cx="13696553" cy="33448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96569" cy="3344799"/>
            </a:xfrm>
            <a:custGeom>
              <a:avLst/>
              <a:gdLst/>
              <a:ahLst/>
              <a:cxnLst/>
              <a:rect l="l" t="t" r="r" b="b"/>
              <a:pathLst>
                <a:path w="13696569" h="334479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574649" y="0"/>
                  </a:lnTo>
                  <a:cubicBezTo>
                    <a:pt x="13641960" y="0"/>
                    <a:pt x="13696569" y="54610"/>
                    <a:pt x="13696569" y="121920"/>
                  </a:cubicBezTo>
                  <a:lnTo>
                    <a:pt x="13696569" y="3222879"/>
                  </a:lnTo>
                  <a:cubicBezTo>
                    <a:pt x="13696569" y="3290189"/>
                    <a:pt x="13641960" y="3344799"/>
                    <a:pt x="13574649" y="3344799"/>
                  </a:cubicBezTo>
                  <a:lnTo>
                    <a:pt x="121920" y="3344799"/>
                  </a:lnTo>
                  <a:cubicBezTo>
                    <a:pt x="54610" y="3344799"/>
                    <a:pt x="0" y="3290189"/>
                    <a:pt x="0" y="3222879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436792" y="1454497"/>
            <a:ext cx="10272415" cy="76200"/>
            <a:chOff x="0" y="0"/>
            <a:chExt cx="13696553" cy="101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696569" cy="101600"/>
            </a:xfrm>
            <a:custGeom>
              <a:avLst/>
              <a:gdLst/>
              <a:ahLst/>
              <a:cxnLst/>
              <a:rect l="l" t="t" r="r" b="b"/>
              <a:pathLst>
                <a:path w="13696569" h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13645769" y="0"/>
                  </a:lnTo>
                  <a:cubicBezTo>
                    <a:pt x="13673835" y="0"/>
                    <a:pt x="13696569" y="22733"/>
                    <a:pt x="13696569" y="50800"/>
                  </a:cubicBezTo>
                  <a:cubicBezTo>
                    <a:pt x="13696569" y="78867"/>
                    <a:pt x="13673835" y="101600"/>
                    <a:pt x="13645769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324977" y="1225600"/>
            <a:ext cx="496044" cy="496044"/>
            <a:chOff x="0" y="0"/>
            <a:chExt cx="661392" cy="66139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1416" cy="661416"/>
            </a:xfrm>
            <a:custGeom>
              <a:avLst/>
              <a:gdLst/>
              <a:ahLst/>
              <a:cxnLst/>
              <a:rect l="l" t="t" r="r" b="b"/>
              <a:pathLst>
                <a:path w="661416" h="661416">
                  <a:moveTo>
                    <a:pt x="0" y="330708"/>
                  </a:moveTo>
                  <a:cubicBezTo>
                    <a:pt x="0" y="148082"/>
                    <a:pt x="148082" y="0"/>
                    <a:pt x="330708" y="0"/>
                  </a:cubicBezTo>
                  <a:cubicBezTo>
                    <a:pt x="513334" y="0"/>
                    <a:pt x="661416" y="148082"/>
                    <a:pt x="661416" y="330708"/>
                  </a:cubicBezTo>
                  <a:cubicBezTo>
                    <a:pt x="661416" y="513334"/>
                    <a:pt x="513334" y="661416"/>
                    <a:pt x="330708" y="661416"/>
                  </a:cubicBezTo>
                  <a:cubicBezTo>
                    <a:pt x="148082" y="661416"/>
                    <a:pt x="0" y="513334"/>
                    <a:pt x="0" y="330708"/>
                  </a:cubicBez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Freeform 15" descr="preencoded.png"/>
          <p:cNvSpPr/>
          <p:nvPr/>
        </p:nvSpPr>
        <p:spPr>
          <a:xfrm>
            <a:off x="12473806" y="1374279"/>
            <a:ext cx="198387" cy="198388"/>
          </a:xfrm>
          <a:custGeom>
            <a:avLst/>
            <a:gdLst/>
            <a:ahLst/>
            <a:cxnLst/>
            <a:rect l="l" t="t" r="r" b="b"/>
            <a:pathLst>
              <a:path w="198387" h="198388">
                <a:moveTo>
                  <a:pt x="0" y="0"/>
                </a:moveTo>
                <a:lnTo>
                  <a:pt x="198388" y="0"/>
                </a:lnTo>
                <a:lnTo>
                  <a:pt x="198388" y="198387"/>
                </a:lnTo>
                <a:lnTo>
                  <a:pt x="0" y="1983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761" r="-47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7621191" y="1877466"/>
            <a:ext cx="2067222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625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Backend Stack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21191" y="2187328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Language: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Python 3.8+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21191" y="2509540"/>
            <a:ext cx="9903619" cy="321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Framework: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Flask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21191" y="2831752"/>
            <a:ext cx="9903619" cy="321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ML Libraries: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PyTorch, Hugging Face Transformers, Scikit-learn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21191" y="3153966"/>
            <a:ext cx="9903619" cy="321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Database: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Supabase (PostgreSQL)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21191" y="3476179"/>
            <a:ext cx="9903619" cy="321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 dirty="0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Server:</a:t>
            </a:r>
            <a:r>
              <a:rPr lang="en-US" sz="1249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49" dirty="0" err="1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Gunicorn</a:t>
            </a:r>
            <a:r>
              <a:rPr lang="en-US" sz="1249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(production WSGI)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436792" y="4395490"/>
            <a:ext cx="10272415" cy="2830860"/>
            <a:chOff x="0" y="0"/>
            <a:chExt cx="13696553" cy="37744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696569" cy="3774440"/>
            </a:xfrm>
            <a:custGeom>
              <a:avLst/>
              <a:gdLst/>
              <a:ahLst/>
              <a:cxnLst/>
              <a:rect l="l" t="t" r="r" b="b"/>
              <a:pathLst>
                <a:path w="13696569" h="377444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574649" y="0"/>
                  </a:lnTo>
                  <a:cubicBezTo>
                    <a:pt x="13641960" y="0"/>
                    <a:pt x="13696569" y="54610"/>
                    <a:pt x="13696569" y="121920"/>
                  </a:cubicBezTo>
                  <a:lnTo>
                    <a:pt x="13696569" y="3652520"/>
                  </a:lnTo>
                  <a:cubicBezTo>
                    <a:pt x="13696569" y="3719830"/>
                    <a:pt x="13641960" y="3774440"/>
                    <a:pt x="13574649" y="3774440"/>
                  </a:cubicBezTo>
                  <a:lnTo>
                    <a:pt x="121920" y="3774440"/>
                  </a:lnTo>
                  <a:cubicBezTo>
                    <a:pt x="54610" y="3774440"/>
                    <a:pt x="0" y="3719830"/>
                    <a:pt x="0" y="3652520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436792" y="4376440"/>
            <a:ext cx="10272415" cy="76200"/>
            <a:chOff x="0" y="0"/>
            <a:chExt cx="13696553" cy="1016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696569" cy="101600"/>
            </a:xfrm>
            <a:custGeom>
              <a:avLst/>
              <a:gdLst/>
              <a:ahLst/>
              <a:cxnLst/>
              <a:rect l="l" t="t" r="r" b="b"/>
              <a:pathLst>
                <a:path w="13696569" h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13645769" y="0"/>
                  </a:lnTo>
                  <a:cubicBezTo>
                    <a:pt x="13673835" y="0"/>
                    <a:pt x="13696569" y="22733"/>
                    <a:pt x="13696569" y="50800"/>
                  </a:cubicBezTo>
                  <a:cubicBezTo>
                    <a:pt x="13696569" y="78867"/>
                    <a:pt x="13673835" y="101600"/>
                    <a:pt x="13645769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324977" y="4147542"/>
            <a:ext cx="496044" cy="496044"/>
            <a:chOff x="0" y="0"/>
            <a:chExt cx="661392" cy="6613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61416" cy="661416"/>
            </a:xfrm>
            <a:custGeom>
              <a:avLst/>
              <a:gdLst/>
              <a:ahLst/>
              <a:cxnLst/>
              <a:rect l="l" t="t" r="r" b="b"/>
              <a:pathLst>
                <a:path w="661416" h="661416">
                  <a:moveTo>
                    <a:pt x="0" y="330708"/>
                  </a:moveTo>
                  <a:cubicBezTo>
                    <a:pt x="0" y="148082"/>
                    <a:pt x="148082" y="0"/>
                    <a:pt x="330708" y="0"/>
                  </a:cubicBezTo>
                  <a:cubicBezTo>
                    <a:pt x="513334" y="0"/>
                    <a:pt x="661416" y="148082"/>
                    <a:pt x="661416" y="330708"/>
                  </a:cubicBezTo>
                  <a:cubicBezTo>
                    <a:pt x="661416" y="513334"/>
                    <a:pt x="513334" y="661416"/>
                    <a:pt x="330708" y="661416"/>
                  </a:cubicBezTo>
                  <a:cubicBezTo>
                    <a:pt x="148082" y="661416"/>
                    <a:pt x="0" y="513334"/>
                    <a:pt x="0" y="330708"/>
                  </a:cubicBez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Freeform 28" descr="preencoded.png"/>
          <p:cNvSpPr/>
          <p:nvPr/>
        </p:nvSpPr>
        <p:spPr>
          <a:xfrm>
            <a:off x="12473806" y="4296221"/>
            <a:ext cx="198387" cy="198388"/>
          </a:xfrm>
          <a:custGeom>
            <a:avLst/>
            <a:gdLst/>
            <a:ahLst/>
            <a:cxnLst/>
            <a:rect l="l" t="t" r="r" b="b"/>
            <a:pathLst>
              <a:path w="198387" h="198388">
                <a:moveTo>
                  <a:pt x="0" y="0"/>
                </a:moveTo>
                <a:lnTo>
                  <a:pt x="198388" y="0"/>
                </a:lnTo>
                <a:lnTo>
                  <a:pt x="198388" y="198388"/>
                </a:lnTo>
                <a:lnTo>
                  <a:pt x="0" y="1983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380" r="-23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7621191" y="4799410"/>
            <a:ext cx="2067222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6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Frontend Stack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621191" y="5109270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Language: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TypeScript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621191" y="5431482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Framework: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React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621191" y="5753695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Styling: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Tailwind CSS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621191" y="6075909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HTTP Client: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Axios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21191" y="6398121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Charts: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Chart.js for data visualisation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621191" y="6720334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Build Tool: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Vite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7436792" y="7639645"/>
            <a:ext cx="10272415" cy="2186434"/>
            <a:chOff x="0" y="0"/>
            <a:chExt cx="13696553" cy="291524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3696569" cy="2915285"/>
            </a:xfrm>
            <a:custGeom>
              <a:avLst/>
              <a:gdLst/>
              <a:ahLst/>
              <a:cxnLst/>
              <a:rect l="l" t="t" r="r" b="b"/>
              <a:pathLst>
                <a:path w="13696569" h="2915285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574649" y="0"/>
                  </a:lnTo>
                  <a:cubicBezTo>
                    <a:pt x="13641960" y="0"/>
                    <a:pt x="13696569" y="54610"/>
                    <a:pt x="13696569" y="121920"/>
                  </a:cubicBezTo>
                  <a:lnTo>
                    <a:pt x="13696569" y="2793365"/>
                  </a:lnTo>
                  <a:cubicBezTo>
                    <a:pt x="13696569" y="2860675"/>
                    <a:pt x="13641960" y="2915285"/>
                    <a:pt x="13574649" y="2915285"/>
                  </a:cubicBezTo>
                  <a:lnTo>
                    <a:pt x="121920" y="2915285"/>
                  </a:lnTo>
                  <a:cubicBezTo>
                    <a:pt x="54610" y="2915285"/>
                    <a:pt x="0" y="2860675"/>
                    <a:pt x="0" y="2793365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36792" y="7620595"/>
            <a:ext cx="10272415" cy="76200"/>
            <a:chOff x="0" y="0"/>
            <a:chExt cx="13696553" cy="1016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3696569" cy="101600"/>
            </a:xfrm>
            <a:custGeom>
              <a:avLst/>
              <a:gdLst/>
              <a:ahLst/>
              <a:cxnLst/>
              <a:rect l="l" t="t" r="r" b="b"/>
              <a:pathLst>
                <a:path w="13696569" h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13645769" y="0"/>
                  </a:lnTo>
                  <a:cubicBezTo>
                    <a:pt x="13673835" y="0"/>
                    <a:pt x="13696569" y="22733"/>
                    <a:pt x="13696569" y="50800"/>
                  </a:cubicBezTo>
                  <a:cubicBezTo>
                    <a:pt x="13696569" y="78867"/>
                    <a:pt x="13673835" y="101600"/>
                    <a:pt x="13645769" y="101600"/>
                  </a:cubicBezTo>
                  <a:lnTo>
                    <a:pt x="50800" y="101600"/>
                  </a:ln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324977" y="7391697"/>
            <a:ext cx="496044" cy="496044"/>
            <a:chOff x="0" y="0"/>
            <a:chExt cx="661392" cy="66139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61416" cy="661416"/>
            </a:xfrm>
            <a:custGeom>
              <a:avLst/>
              <a:gdLst/>
              <a:ahLst/>
              <a:cxnLst/>
              <a:rect l="l" t="t" r="r" b="b"/>
              <a:pathLst>
                <a:path w="661416" h="661416">
                  <a:moveTo>
                    <a:pt x="0" y="330708"/>
                  </a:moveTo>
                  <a:cubicBezTo>
                    <a:pt x="0" y="148082"/>
                    <a:pt x="148082" y="0"/>
                    <a:pt x="330708" y="0"/>
                  </a:cubicBezTo>
                  <a:cubicBezTo>
                    <a:pt x="513334" y="0"/>
                    <a:pt x="661416" y="148082"/>
                    <a:pt x="661416" y="330708"/>
                  </a:cubicBezTo>
                  <a:cubicBezTo>
                    <a:pt x="661416" y="513334"/>
                    <a:pt x="513334" y="661416"/>
                    <a:pt x="330708" y="661416"/>
                  </a:cubicBezTo>
                  <a:cubicBezTo>
                    <a:pt x="148082" y="661416"/>
                    <a:pt x="0" y="513334"/>
                    <a:pt x="0" y="330708"/>
                  </a:cubicBezTo>
                  <a:close/>
                </a:path>
              </a:pathLst>
            </a:custGeom>
            <a:solidFill>
              <a:srgbClr val="1B1B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" name="Freeform 42" descr="preencoded.png"/>
          <p:cNvSpPr/>
          <p:nvPr/>
        </p:nvSpPr>
        <p:spPr>
          <a:xfrm>
            <a:off x="12473806" y="7540377"/>
            <a:ext cx="198387" cy="198388"/>
          </a:xfrm>
          <a:custGeom>
            <a:avLst/>
            <a:gdLst/>
            <a:ahLst/>
            <a:cxnLst/>
            <a:rect l="l" t="t" r="r" b="b"/>
            <a:pathLst>
              <a:path w="198387" h="198388">
                <a:moveTo>
                  <a:pt x="0" y="0"/>
                </a:moveTo>
                <a:lnTo>
                  <a:pt x="198388" y="0"/>
                </a:lnTo>
                <a:lnTo>
                  <a:pt x="198388" y="198388"/>
                </a:lnTo>
                <a:lnTo>
                  <a:pt x="0" y="1983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380" r="-23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7621191" y="8043565"/>
            <a:ext cx="2067222" cy="26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625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Model &amp; ML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621191" y="8353425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Base Model: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DistilBERT (distilbert-base-uncased)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621191" y="8675638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Model Size: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267 MB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621191" y="8997851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Inference: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&lt;50ms per prediction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621191" y="9320064"/>
            <a:ext cx="9903619" cy="321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88516" lvl="1" indent="-94258" algn="l">
              <a:lnSpc>
                <a:spcPts val="2062"/>
              </a:lnSpc>
              <a:buFont typeface="Arial"/>
              <a:buChar char="•"/>
            </a:pPr>
            <a:r>
              <a:rPr lang="en-US" sz="1249" b="1">
                <a:solidFill>
                  <a:srgbClr val="3C3939"/>
                </a:solidFill>
                <a:latin typeface="Roboto Bold"/>
                <a:ea typeface="Roboto Bold"/>
                <a:cs typeface="Roboto Bold"/>
                <a:sym typeface="Roboto Bold"/>
              </a:rPr>
              <a:t>Aspect Detection:</a:t>
            </a:r>
            <a:r>
              <a:rPr lang="en-US" sz="1249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 Keyword-based + sentiment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49411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51613" y="266700"/>
            <a:ext cx="10630787" cy="1719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937"/>
              </a:lnSpc>
            </a:pPr>
            <a:r>
              <a:rPr lang="en-US" sz="5562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Results &amp; Key Findings</a:t>
            </a:r>
          </a:p>
          <a:p>
            <a:pPr algn="l">
              <a:lnSpc>
                <a:spcPts val="6937"/>
              </a:lnSpc>
            </a:pPr>
            <a:endParaRPr lang="en-US" sz="5562" dirty="0">
              <a:solidFill>
                <a:srgbClr val="1B1B27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762000" y="1143758"/>
            <a:ext cx="4244281" cy="2433623"/>
            <a:chOff x="0" y="0"/>
            <a:chExt cx="12606735" cy="5651302"/>
          </a:xfrm>
        </p:grpSpPr>
        <p:sp>
          <p:nvSpPr>
            <p:cNvPr id="8" name="Freeform 8"/>
            <p:cNvSpPr/>
            <p:nvPr/>
          </p:nvSpPr>
          <p:spPr>
            <a:xfrm>
              <a:off x="6350" y="6350"/>
              <a:ext cx="12594082" cy="5638546"/>
            </a:xfrm>
            <a:custGeom>
              <a:avLst/>
              <a:gdLst/>
              <a:ahLst/>
              <a:cxnLst/>
              <a:rect l="l" t="t" r="r" b="b"/>
              <a:pathLst>
                <a:path w="12594082" h="5638546">
                  <a:moveTo>
                    <a:pt x="0" y="158750"/>
                  </a:moveTo>
                  <a:cubicBezTo>
                    <a:pt x="0" y="71120"/>
                    <a:pt x="71120" y="0"/>
                    <a:pt x="159004" y="0"/>
                  </a:cubicBezTo>
                  <a:lnTo>
                    <a:pt x="12435078" y="0"/>
                  </a:lnTo>
                  <a:cubicBezTo>
                    <a:pt x="12522835" y="0"/>
                    <a:pt x="12594082" y="71120"/>
                    <a:pt x="12594082" y="158750"/>
                  </a:cubicBezTo>
                  <a:lnTo>
                    <a:pt x="12594082" y="5479796"/>
                  </a:lnTo>
                  <a:cubicBezTo>
                    <a:pt x="12594082" y="5567426"/>
                    <a:pt x="12522962" y="5638546"/>
                    <a:pt x="12435078" y="5638546"/>
                  </a:cubicBezTo>
                  <a:lnTo>
                    <a:pt x="159004" y="5638546"/>
                  </a:lnTo>
                  <a:cubicBezTo>
                    <a:pt x="71120" y="5638546"/>
                    <a:pt x="0" y="5567553"/>
                    <a:pt x="0" y="5479796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12606782" cy="5651246"/>
            </a:xfrm>
            <a:custGeom>
              <a:avLst/>
              <a:gdLst/>
              <a:ahLst/>
              <a:cxnLst/>
              <a:rect l="l" t="t" r="r" b="b"/>
              <a:pathLst>
                <a:path w="12606782" h="5651246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2441428" y="0"/>
                  </a:lnTo>
                  <a:lnTo>
                    <a:pt x="12441428" y="6350"/>
                  </a:lnTo>
                  <a:lnTo>
                    <a:pt x="12441428" y="0"/>
                  </a:lnTo>
                  <a:cubicBezTo>
                    <a:pt x="12532741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5486146"/>
                  </a:lnTo>
                  <a:lnTo>
                    <a:pt x="12600432" y="5486146"/>
                  </a:lnTo>
                  <a:lnTo>
                    <a:pt x="12606782" y="5486146"/>
                  </a:lnTo>
                  <a:cubicBezTo>
                    <a:pt x="12606782" y="5577332"/>
                    <a:pt x="12532741" y="5651246"/>
                    <a:pt x="12441428" y="5651246"/>
                  </a:cubicBezTo>
                  <a:lnTo>
                    <a:pt x="12441428" y="5644896"/>
                  </a:lnTo>
                  <a:lnTo>
                    <a:pt x="12441428" y="5651246"/>
                  </a:lnTo>
                  <a:lnTo>
                    <a:pt x="165354" y="5651246"/>
                  </a:lnTo>
                  <a:lnTo>
                    <a:pt x="165354" y="5644896"/>
                  </a:lnTo>
                  <a:lnTo>
                    <a:pt x="165354" y="5651246"/>
                  </a:lnTo>
                  <a:cubicBezTo>
                    <a:pt x="74041" y="5651246"/>
                    <a:pt x="0" y="5577332"/>
                    <a:pt x="0" y="5486146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5486146"/>
                  </a:lnTo>
                  <a:lnTo>
                    <a:pt x="6350" y="5486146"/>
                  </a:lnTo>
                  <a:lnTo>
                    <a:pt x="12700" y="5486146"/>
                  </a:lnTo>
                  <a:cubicBezTo>
                    <a:pt x="12700" y="5570347"/>
                    <a:pt x="81026" y="5638546"/>
                    <a:pt x="165354" y="5638546"/>
                  </a:cubicBezTo>
                  <a:lnTo>
                    <a:pt x="12441428" y="5638546"/>
                  </a:lnTo>
                  <a:cubicBezTo>
                    <a:pt x="12525756" y="5638546"/>
                    <a:pt x="12594082" y="5570347"/>
                    <a:pt x="12594082" y="5486146"/>
                  </a:cubicBezTo>
                  <a:lnTo>
                    <a:pt x="12594082" y="165100"/>
                  </a:lnTo>
                  <a:cubicBezTo>
                    <a:pt x="12594082" y="80899"/>
                    <a:pt x="12525756" y="12700"/>
                    <a:pt x="12441428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94353" y="1069576"/>
            <a:ext cx="4444568" cy="2458109"/>
            <a:chOff x="-19911" y="-81756"/>
            <a:chExt cx="6284214" cy="3524758"/>
          </a:xfrm>
        </p:grpSpPr>
        <p:sp>
          <p:nvSpPr>
            <p:cNvPr id="11" name="Freeform 11"/>
            <p:cNvSpPr/>
            <p:nvPr/>
          </p:nvSpPr>
          <p:spPr>
            <a:xfrm>
              <a:off x="-19911" y="-81756"/>
              <a:ext cx="6284214" cy="3524758"/>
            </a:xfrm>
            <a:custGeom>
              <a:avLst/>
              <a:gdLst/>
              <a:ahLst/>
              <a:cxnLst/>
              <a:rect l="l" t="t" r="r" b="b"/>
              <a:pathLst>
                <a:path w="6284214" h="3524758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125464" y="0"/>
                  </a:lnTo>
                  <a:cubicBezTo>
                    <a:pt x="6213221" y="0"/>
                    <a:pt x="6284214" y="71120"/>
                    <a:pt x="6284214" y="158750"/>
                  </a:cubicBezTo>
                  <a:lnTo>
                    <a:pt x="6284214" y="3366008"/>
                  </a:lnTo>
                  <a:cubicBezTo>
                    <a:pt x="6284214" y="3453765"/>
                    <a:pt x="6213094" y="3524758"/>
                    <a:pt x="6125464" y="3524758"/>
                  </a:cubicBezTo>
                  <a:lnTo>
                    <a:pt x="158750" y="3524758"/>
                  </a:lnTo>
                  <a:cubicBezTo>
                    <a:pt x="70993" y="3524758"/>
                    <a:pt x="0" y="3453638"/>
                    <a:pt x="0" y="3366008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34901" y="1234255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Overall Accuracy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3239" y="1866640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3C3939"/>
                </a:solidFill>
                <a:latin typeface="Raleway Bold"/>
                <a:ea typeface="Raleway Bold"/>
                <a:cs typeface="Raleway Bold"/>
                <a:sym typeface="Raleway Bold"/>
              </a:rPr>
              <a:t>91.28%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8323" y="2489150"/>
            <a:ext cx="3721001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(22,819/25,000 correct predictions)</a:t>
            </a:r>
          </a:p>
        </p:txBody>
      </p:sp>
      <p:grpSp>
        <p:nvGrpSpPr>
          <p:cNvPr id="17" name="Group 17"/>
          <p:cNvGrpSpPr/>
          <p:nvPr/>
        </p:nvGrpSpPr>
        <p:grpSpPr>
          <a:xfrm flipH="1">
            <a:off x="4999882" y="1138236"/>
            <a:ext cx="45719" cy="2533017"/>
            <a:chOff x="0" y="0"/>
            <a:chExt cx="50800" cy="352484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0800" cy="3524885"/>
            </a:xfrm>
            <a:custGeom>
              <a:avLst/>
              <a:gdLst/>
              <a:ahLst/>
              <a:cxnLst/>
              <a:rect l="l" t="t" r="r" b="b"/>
              <a:pathLst>
                <a:path w="50800" h="3524885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3499485"/>
                  </a:lnTo>
                  <a:cubicBezTo>
                    <a:pt x="50800" y="3513455"/>
                    <a:pt x="39370" y="3524885"/>
                    <a:pt x="25400" y="3524885"/>
                  </a:cubicBezTo>
                  <a:cubicBezTo>
                    <a:pt x="11430" y="3524885"/>
                    <a:pt x="0" y="3513455"/>
                    <a:pt x="0" y="3499485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178994" y="1311050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F1 Score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78994" y="1895804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3C3939"/>
                </a:solidFill>
                <a:latin typeface="Raleway Bold"/>
                <a:ea typeface="Raleway Bold"/>
                <a:cs typeface="Raleway Bold"/>
                <a:sym typeface="Raleway Bold"/>
              </a:rPr>
              <a:t>0.913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05713" y="2419521"/>
            <a:ext cx="3721001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(Excellent balance of precision &amp; recall)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59878" y="3518581"/>
            <a:ext cx="4240021" cy="1337188"/>
            <a:chOff x="0" y="0"/>
            <a:chExt cx="6284317" cy="208835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284341" cy="2088388"/>
            </a:xfrm>
            <a:custGeom>
              <a:avLst/>
              <a:gdLst/>
              <a:ahLst/>
              <a:cxnLst/>
              <a:rect l="l" t="t" r="r" b="b"/>
              <a:pathLst>
                <a:path w="6284341" h="2088388">
                  <a:moveTo>
                    <a:pt x="0" y="0"/>
                  </a:moveTo>
                  <a:lnTo>
                    <a:pt x="6284341" y="0"/>
                  </a:lnTo>
                  <a:lnTo>
                    <a:pt x="6284341" y="2088388"/>
                  </a:lnTo>
                  <a:lnTo>
                    <a:pt x="0" y="2088388"/>
                  </a:ln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59878" y="3519745"/>
            <a:ext cx="4246419" cy="62544"/>
            <a:chOff x="0" y="0"/>
            <a:chExt cx="6284317" cy="50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284341" cy="50800"/>
            </a:xfrm>
            <a:custGeom>
              <a:avLst/>
              <a:gdLst/>
              <a:ahLst/>
              <a:cxnLst/>
              <a:rect l="l" t="t" r="r" b="b"/>
              <a:pathLst>
                <a:path w="6284341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6258941" y="0"/>
                  </a:lnTo>
                  <a:cubicBezTo>
                    <a:pt x="6272911" y="0"/>
                    <a:pt x="6284341" y="11430"/>
                    <a:pt x="6284341" y="25400"/>
                  </a:cubicBezTo>
                  <a:cubicBezTo>
                    <a:pt x="6284341" y="39370"/>
                    <a:pt x="6272911" y="50800"/>
                    <a:pt x="6258941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71278" y="3671254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3C3939"/>
                </a:solidFill>
                <a:latin typeface="Raleway Bold"/>
                <a:ea typeface="Raleway Bold"/>
                <a:cs typeface="Raleway Bold"/>
                <a:sym typeface="Raleway Bold"/>
              </a:rPr>
              <a:t>Recall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9204" y="4301891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750" b="1" dirty="0">
                <a:solidFill>
                  <a:srgbClr val="3C3939"/>
                </a:solidFill>
                <a:latin typeface="Raleway Bold"/>
                <a:ea typeface="Raleway Bold"/>
                <a:cs typeface="Raleway Bold"/>
                <a:sym typeface="Raleway Bold"/>
              </a:rPr>
              <a:t>91.8%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002037" y="3592366"/>
            <a:ext cx="4444568" cy="1293728"/>
            <a:chOff x="0" y="0"/>
            <a:chExt cx="6284317" cy="208835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284341" cy="2088388"/>
            </a:xfrm>
            <a:custGeom>
              <a:avLst/>
              <a:gdLst/>
              <a:ahLst/>
              <a:cxnLst/>
              <a:rect l="l" t="t" r="r" b="b"/>
              <a:pathLst>
                <a:path w="6284341" h="2088388">
                  <a:moveTo>
                    <a:pt x="0" y="0"/>
                  </a:moveTo>
                  <a:lnTo>
                    <a:pt x="6284341" y="0"/>
                  </a:lnTo>
                  <a:lnTo>
                    <a:pt x="6284341" y="2088388"/>
                  </a:lnTo>
                  <a:lnTo>
                    <a:pt x="0" y="2088388"/>
                  </a:ln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948221" y="3508504"/>
            <a:ext cx="64457" cy="1377609"/>
            <a:chOff x="0" y="0"/>
            <a:chExt cx="50800" cy="208835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0800" cy="2088388"/>
            </a:xfrm>
            <a:custGeom>
              <a:avLst/>
              <a:gdLst/>
              <a:ahLst/>
              <a:cxnLst/>
              <a:rect l="l" t="t" r="r" b="b"/>
              <a:pathLst>
                <a:path w="50800" h="2088388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062988"/>
                  </a:lnTo>
                  <a:cubicBezTo>
                    <a:pt x="50800" y="2076958"/>
                    <a:pt x="39370" y="2088388"/>
                    <a:pt x="25400" y="2088388"/>
                  </a:cubicBezTo>
                  <a:cubicBezTo>
                    <a:pt x="11430" y="2088388"/>
                    <a:pt x="0" y="2076958"/>
                    <a:pt x="0" y="2062988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 flipV="1">
            <a:off x="5006298" y="3508504"/>
            <a:ext cx="4432624" cy="86196"/>
            <a:chOff x="0" y="0"/>
            <a:chExt cx="6284317" cy="50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284341" cy="50800"/>
            </a:xfrm>
            <a:custGeom>
              <a:avLst/>
              <a:gdLst/>
              <a:ahLst/>
              <a:cxnLst/>
              <a:rect l="l" t="t" r="r" b="b"/>
              <a:pathLst>
                <a:path w="6284341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6258941" y="0"/>
                  </a:lnTo>
                  <a:cubicBezTo>
                    <a:pt x="6272911" y="0"/>
                    <a:pt x="6284341" y="11430"/>
                    <a:pt x="6284341" y="25400"/>
                  </a:cubicBezTo>
                  <a:cubicBezTo>
                    <a:pt x="6284341" y="39370"/>
                    <a:pt x="6272911" y="50800"/>
                    <a:pt x="6258941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279251" y="3715688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3C3939"/>
                </a:solidFill>
                <a:latin typeface="Raleway Bold"/>
                <a:ea typeface="Raleway Bold"/>
                <a:cs typeface="Raleway Bold"/>
                <a:sym typeface="Raleway Bold"/>
              </a:rPr>
              <a:t>Precision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205713" y="4260960"/>
            <a:ext cx="354404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750" b="1" dirty="0">
                <a:solidFill>
                  <a:srgbClr val="3C3939"/>
                </a:solidFill>
                <a:latin typeface="Raleway Bold"/>
                <a:ea typeface="Raleway Bold"/>
                <a:cs typeface="Raleway Bold"/>
                <a:sym typeface="Raleway Bold"/>
              </a:rPr>
              <a:t>90.8%</a:t>
            </a:r>
          </a:p>
        </p:txBody>
      </p:sp>
      <p:grpSp>
        <p:nvGrpSpPr>
          <p:cNvPr id="43" name="Group 7">
            <a:extLst>
              <a:ext uri="{FF2B5EF4-FFF2-40B4-BE49-F238E27FC236}">
                <a16:creationId xmlns:a16="http://schemas.microsoft.com/office/drawing/2014/main" id="{058AD0A2-C660-AE9F-380B-CCE7D6BA6866}"/>
              </a:ext>
            </a:extLst>
          </p:cNvPr>
          <p:cNvGrpSpPr/>
          <p:nvPr/>
        </p:nvGrpSpPr>
        <p:grpSpPr>
          <a:xfrm>
            <a:off x="533400" y="5371250"/>
            <a:ext cx="5254973" cy="3193256"/>
            <a:chOff x="0" y="0"/>
            <a:chExt cx="7006630" cy="4257675"/>
          </a:xfrm>
        </p:grpSpPr>
        <p:sp>
          <p:nvSpPr>
            <p:cNvPr id="44" name="Freeform 8">
              <a:extLst>
                <a:ext uri="{FF2B5EF4-FFF2-40B4-BE49-F238E27FC236}">
                  <a16:creationId xmlns:a16="http://schemas.microsoft.com/office/drawing/2014/main" id="{6B79F708-AEC9-C7C2-1CC2-B043EBF3F2AD}"/>
                </a:ext>
              </a:extLst>
            </p:cNvPr>
            <p:cNvSpPr/>
            <p:nvPr/>
          </p:nvSpPr>
          <p:spPr>
            <a:xfrm>
              <a:off x="6350" y="6350"/>
              <a:ext cx="6994017" cy="4244975"/>
            </a:xfrm>
            <a:custGeom>
              <a:avLst/>
              <a:gdLst/>
              <a:ahLst/>
              <a:cxnLst/>
              <a:rect l="l" t="t" r="r" b="b"/>
              <a:pathLst>
                <a:path w="6994017" h="4244975">
                  <a:moveTo>
                    <a:pt x="0" y="907288"/>
                  </a:moveTo>
                  <a:cubicBezTo>
                    <a:pt x="0" y="406273"/>
                    <a:pt x="406654" y="0"/>
                    <a:pt x="908431" y="0"/>
                  </a:cubicBezTo>
                  <a:lnTo>
                    <a:pt x="6085586" y="0"/>
                  </a:lnTo>
                  <a:cubicBezTo>
                    <a:pt x="6587236" y="0"/>
                    <a:pt x="6994017" y="406273"/>
                    <a:pt x="6994017" y="907288"/>
                  </a:cubicBezTo>
                  <a:lnTo>
                    <a:pt x="6994017" y="3337687"/>
                  </a:lnTo>
                  <a:cubicBezTo>
                    <a:pt x="6994017" y="3838829"/>
                    <a:pt x="6587363" y="4244975"/>
                    <a:pt x="6085586" y="4244975"/>
                  </a:cubicBezTo>
                  <a:lnTo>
                    <a:pt x="908431" y="4244975"/>
                  </a:lnTo>
                  <a:cubicBezTo>
                    <a:pt x="406654" y="4244975"/>
                    <a:pt x="0" y="3838702"/>
                    <a:pt x="0" y="3337687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9">
              <a:extLst>
                <a:ext uri="{FF2B5EF4-FFF2-40B4-BE49-F238E27FC236}">
                  <a16:creationId xmlns:a16="http://schemas.microsoft.com/office/drawing/2014/main" id="{4AC5D756-61E9-4E84-7345-117CC120127C}"/>
                </a:ext>
              </a:extLst>
            </p:cNvPr>
            <p:cNvSpPr/>
            <p:nvPr/>
          </p:nvSpPr>
          <p:spPr>
            <a:xfrm>
              <a:off x="0" y="0"/>
              <a:ext cx="7006717" cy="4257675"/>
            </a:xfrm>
            <a:custGeom>
              <a:avLst/>
              <a:gdLst/>
              <a:ahLst/>
              <a:cxnLst/>
              <a:rect l="l" t="t" r="r" b="b"/>
              <a:pathLst>
                <a:path w="7006717" h="4257675">
                  <a:moveTo>
                    <a:pt x="0" y="913638"/>
                  </a:moveTo>
                  <a:cubicBezTo>
                    <a:pt x="0" y="409067"/>
                    <a:pt x="409575" y="0"/>
                    <a:pt x="914781" y="0"/>
                  </a:cubicBezTo>
                  <a:lnTo>
                    <a:pt x="6091936" y="0"/>
                  </a:lnTo>
                  <a:lnTo>
                    <a:pt x="6091936" y="6350"/>
                  </a:lnTo>
                  <a:lnTo>
                    <a:pt x="6091936" y="0"/>
                  </a:lnTo>
                  <a:cubicBezTo>
                    <a:pt x="6597142" y="0"/>
                    <a:pt x="7006717" y="409067"/>
                    <a:pt x="7006717" y="913638"/>
                  </a:cubicBezTo>
                  <a:lnTo>
                    <a:pt x="7000367" y="913638"/>
                  </a:lnTo>
                  <a:lnTo>
                    <a:pt x="7006717" y="913638"/>
                  </a:lnTo>
                  <a:lnTo>
                    <a:pt x="7006717" y="3344037"/>
                  </a:lnTo>
                  <a:lnTo>
                    <a:pt x="7000367" y="3344037"/>
                  </a:lnTo>
                  <a:lnTo>
                    <a:pt x="7006717" y="3344037"/>
                  </a:lnTo>
                  <a:cubicBezTo>
                    <a:pt x="7006717" y="3848608"/>
                    <a:pt x="6597142" y="4257675"/>
                    <a:pt x="6091936" y="4257675"/>
                  </a:cubicBezTo>
                  <a:lnTo>
                    <a:pt x="6091936" y="4251325"/>
                  </a:lnTo>
                  <a:lnTo>
                    <a:pt x="6091936" y="4257675"/>
                  </a:lnTo>
                  <a:lnTo>
                    <a:pt x="914781" y="4257675"/>
                  </a:lnTo>
                  <a:lnTo>
                    <a:pt x="914781" y="4251325"/>
                  </a:lnTo>
                  <a:lnTo>
                    <a:pt x="914781" y="4257675"/>
                  </a:lnTo>
                  <a:cubicBezTo>
                    <a:pt x="409575" y="4257675"/>
                    <a:pt x="0" y="3848608"/>
                    <a:pt x="0" y="3344037"/>
                  </a:cubicBezTo>
                  <a:lnTo>
                    <a:pt x="0" y="913638"/>
                  </a:lnTo>
                  <a:lnTo>
                    <a:pt x="6350" y="913638"/>
                  </a:lnTo>
                  <a:lnTo>
                    <a:pt x="0" y="913638"/>
                  </a:lnTo>
                  <a:moveTo>
                    <a:pt x="12700" y="913638"/>
                  </a:moveTo>
                  <a:lnTo>
                    <a:pt x="12700" y="3344037"/>
                  </a:lnTo>
                  <a:lnTo>
                    <a:pt x="6350" y="3344037"/>
                  </a:lnTo>
                  <a:lnTo>
                    <a:pt x="12700" y="3344037"/>
                  </a:lnTo>
                  <a:cubicBezTo>
                    <a:pt x="12700" y="3841623"/>
                    <a:pt x="416560" y="4244975"/>
                    <a:pt x="914781" y="4244975"/>
                  </a:cubicBezTo>
                  <a:lnTo>
                    <a:pt x="6091936" y="4244975"/>
                  </a:lnTo>
                  <a:cubicBezTo>
                    <a:pt x="6590157" y="4244975"/>
                    <a:pt x="6994017" y="3841623"/>
                    <a:pt x="6994017" y="3344037"/>
                  </a:cubicBezTo>
                  <a:lnTo>
                    <a:pt x="6994017" y="913638"/>
                  </a:lnTo>
                  <a:cubicBezTo>
                    <a:pt x="6993890" y="416052"/>
                    <a:pt x="6590030" y="12700"/>
                    <a:pt x="6091936" y="12700"/>
                  </a:cubicBezTo>
                  <a:lnTo>
                    <a:pt x="914781" y="12700"/>
                  </a:lnTo>
                  <a:lnTo>
                    <a:pt x="914781" y="6350"/>
                  </a:lnTo>
                  <a:lnTo>
                    <a:pt x="914781" y="12700"/>
                  </a:lnTo>
                  <a:cubicBezTo>
                    <a:pt x="416560" y="12700"/>
                    <a:pt x="12700" y="416052"/>
                    <a:pt x="12700" y="913638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0EE3F242-1AFF-8A86-A7CF-24454842D04C}"/>
              </a:ext>
            </a:extLst>
          </p:cNvPr>
          <p:cNvSpPr txBox="1"/>
          <p:nvPr/>
        </p:nvSpPr>
        <p:spPr>
          <a:xfrm>
            <a:off x="918532" y="5616390"/>
            <a:ext cx="9151374" cy="50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800" dirty="0" err="1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Optimised</a:t>
            </a:r>
            <a:r>
              <a:rPr lang="en-US" sz="2800" dirty="0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 Performance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E9B874-A6F7-1025-E29F-3B8C0A976E60}"/>
              </a:ext>
            </a:extLst>
          </p:cNvPr>
          <p:cNvSpPr txBox="1"/>
          <p:nvPr/>
        </p:nvSpPr>
        <p:spPr>
          <a:xfrm>
            <a:off x="767252" y="6151857"/>
            <a:ext cx="4795348" cy="97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87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✓ Less than 50ms prediction latency, crucial for production environments.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6B81C0-776D-49B4-EC3E-83E312D8F126}"/>
              </a:ext>
            </a:extLst>
          </p:cNvPr>
          <p:cNvSpPr txBox="1"/>
          <p:nvPr/>
        </p:nvSpPr>
        <p:spPr>
          <a:xfrm>
            <a:off x="703564" y="7117578"/>
            <a:ext cx="4859036" cy="97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87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✓ Processing capability exceeding 2,400 reviews per minute.</a:t>
            </a:r>
          </a:p>
        </p:txBody>
      </p:sp>
      <p:grpSp>
        <p:nvGrpSpPr>
          <p:cNvPr id="55" name="Group 13">
            <a:extLst>
              <a:ext uri="{FF2B5EF4-FFF2-40B4-BE49-F238E27FC236}">
                <a16:creationId xmlns:a16="http://schemas.microsoft.com/office/drawing/2014/main" id="{0ABB4614-DADA-7E82-B9BE-45BC94F5FA4C}"/>
              </a:ext>
            </a:extLst>
          </p:cNvPr>
          <p:cNvGrpSpPr/>
          <p:nvPr/>
        </p:nvGrpSpPr>
        <p:grpSpPr>
          <a:xfrm>
            <a:off x="6012765" y="5398707"/>
            <a:ext cx="5254973" cy="3193256"/>
            <a:chOff x="0" y="0"/>
            <a:chExt cx="7006630" cy="4257675"/>
          </a:xfrm>
        </p:grpSpPr>
        <p:sp>
          <p:nvSpPr>
            <p:cNvPr id="56" name="Freeform 14">
              <a:extLst>
                <a:ext uri="{FF2B5EF4-FFF2-40B4-BE49-F238E27FC236}">
                  <a16:creationId xmlns:a16="http://schemas.microsoft.com/office/drawing/2014/main" id="{21F1EE51-7F2C-A319-B3B2-57DB9BB25503}"/>
                </a:ext>
              </a:extLst>
            </p:cNvPr>
            <p:cNvSpPr/>
            <p:nvPr/>
          </p:nvSpPr>
          <p:spPr>
            <a:xfrm>
              <a:off x="6350" y="6350"/>
              <a:ext cx="6994017" cy="4244975"/>
            </a:xfrm>
            <a:custGeom>
              <a:avLst/>
              <a:gdLst/>
              <a:ahLst/>
              <a:cxnLst/>
              <a:rect l="l" t="t" r="r" b="b"/>
              <a:pathLst>
                <a:path w="6994017" h="4244975">
                  <a:moveTo>
                    <a:pt x="0" y="907288"/>
                  </a:moveTo>
                  <a:cubicBezTo>
                    <a:pt x="0" y="406273"/>
                    <a:pt x="406654" y="0"/>
                    <a:pt x="908431" y="0"/>
                  </a:cubicBezTo>
                  <a:lnTo>
                    <a:pt x="6085586" y="0"/>
                  </a:lnTo>
                  <a:cubicBezTo>
                    <a:pt x="6587236" y="0"/>
                    <a:pt x="6994017" y="406273"/>
                    <a:pt x="6994017" y="907288"/>
                  </a:cubicBezTo>
                  <a:lnTo>
                    <a:pt x="6994017" y="3337687"/>
                  </a:lnTo>
                  <a:cubicBezTo>
                    <a:pt x="6994017" y="3838829"/>
                    <a:pt x="6587363" y="4244975"/>
                    <a:pt x="6085586" y="4244975"/>
                  </a:cubicBezTo>
                  <a:lnTo>
                    <a:pt x="908431" y="4244975"/>
                  </a:lnTo>
                  <a:cubicBezTo>
                    <a:pt x="406654" y="4244975"/>
                    <a:pt x="0" y="3838702"/>
                    <a:pt x="0" y="3337687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15">
              <a:extLst>
                <a:ext uri="{FF2B5EF4-FFF2-40B4-BE49-F238E27FC236}">
                  <a16:creationId xmlns:a16="http://schemas.microsoft.com/office/drawing/2014/main" id="{EC91B213-11CD-AC11-2DA6-B0B88961119B}"/>
                </a:ext>
              </a:extLst>
            </p:cNvPr>
            <p:cNvSpPr/>
            <p:nvPr/>
          </p:nvSpPr>
          <p:spPr>
            <a:xfrm>
              <a:off x="0" y="0"/>
              <a:ext cx="7006717" cy="4257675"/>
            </a:xfrm>
            <a:custGeom>
              <a:avLst/>
              <a:gdLst/>
              <a:ahLst/>
              <a:cxnLst/>
              <a:rect l="l" t="t" r="r" b="b"/>
              <a:pathLst>
                <a:path w="7006717" h="4257675">
                  <a:moveTo>
                    <a:pt x="0" y="913638"/>
                  </a:moveTo>
                  <a:cubicBezTo>
                    <a:pt x="0" y="409067"/>
                    <a:pt x="409575" y="0"/>
                    <a:pt x="914781" y="0"/>
                  </a:cubicBezTo>
                  <a:lnTo>
                    <a:pt x="6091936" y="0"/>
                  </a:lnTo>
                  <a:lnTo>
                    <a:pt x="6091936" y="6350"/>
                  </a:lnTo>
                  <a:lnTo>
                    <a:pt x="6091936" y="0"/>
                  </a:lnTo>
                  <a:cubicBezTo>
                    <a:pt x="6597142" y="0"/>
                    <a:pt x="7006717" y="409067"/>
                    <a:pt x="7006717" y="913638"/>
                  </a:cubicBezTo>
                  <a:lnTo>
                    <a:pt x="7000367" y="913638"/>
                  </a:lnTo>
                  <a:lnTo>
                    <a:pt x="7006717" y="913638"/>
                  </a:lnTo>
                  <a:lnTo>
                    <a:pt x="7006717" y="3344037"/>
                  </a:lnTo>
                  <a:lnTo>
                    <a:pt x="7000367" y="3344037"/>
                  </a:lnTo>
                  <a:lnTo>
                    <a:pt x="7006717" y="3344037"/>
                  </a:lnTo>
                  <a:cubicBezTo>
                    <a:pt x="7006717" y="3848608"/>
                    <a:pt x="6597142" y="4257675"/>
                    <a:pt x="6091936" y="4257675"/>
                  </a:cubicBezTo>
                  <a:lnTo>
                    <a:pt x="6091936" y="4251325"/>
                  </a:lnTo>
                  <a:lnTo>
                    <a:pt x="6091936" y="4257675"/>
                  </a:lnTo>
                  <a:lnTo>
                    <a:pt x="914781" y="4257675"/>
                  </a:lnTo>
                  <a:lnTo>
                    <a:pt x="914781" y="4251325"/>
                  </a:lnTo>
                  <a:lnTo>
                    <a:pt x="914781" y="4257675"/>
                  </a:lnTo>
                  <a:cubicBezTo>
                    <a:pt x="409575" y="4257675"/>
                    <a:pt x="0" y="3848608"/>
                    <a:pt x="0" y="3344037"/>
                  </a:cubicBezTo>
                  <a:lnTo>
                    <a:pt x="0" y="913638"/>
                  </a:lnTo>
                  <a:lnTo>
                    <a:pt x="6350" y="913638"/>
                  </a:lnTo>
                  <a:lnTo>
                    <a:pt x="0" y="913638"/>
                  </a:lnTo>
                  <a:moveTo>
                    <a:pt x="12700" y="913638"/>
                  </a:moveTo>
                  <a:lnTo>
                    <a:pt x="12700" y="3344037"/>
                  </a:lnTo>
                  <a:lnTo>
                    <a:pt x="6350" y="3344037"/>
                  </a:lnTo>
                  <a:lnTo>
                    <a:pt x="12700" y="3344037"/>
                  </a:lnTo>
                  <a:cubicBezTo>
                    <a:pt x="12700" y="3841623"/>
                    <a:pt x="416560" y="4244975"/>
                    <a:pt x="914781" y="4244975"/>
                  </a:cubicBezTo>
                  <a:lnTo>
                    <a:pt x="6091936" y="4244975"/>
                  </a:lnTo>
                  <a:cubicBezTo>
                    <a:pt x="6590157" y="4244975"/>
                    <a:pt x="6994017" y="3841623"/>
                    <a:pt x="6994017" y="3344037"/>
                  </a:cubicBezTo>
                  <a:lnTo>
                    <a:pt x="6994017" y="913638"/>
                  </a:lnTo>
                  <a:cubicBezTo>
                    <a:pt x="6993890" y="416052"/>
                    <a:pt x="6590030" y="12700"/>
                    <a:pt x="6091936" y="12700"/>
                  </a:cubicBezTo>
                  <a:lnTo>
                    <a:pt x="914781" y="12700"/>
                  </a:lnTo>
                  <a:lnTo>
                    <a:pt x="914781" y="6350"/>
                  </a:lnTo>
                  <a:lnTo>
                    <a:pt x="914781" y="12700"/>
                  </a:lnTo>
                  <a:cubicBezTo>
                    <a:pt x="416560" y="12700"/>
                    <a:pt x="12700" y="416052"/>
                    <a:pt x="12700" y="913638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19">
            <a:extLst>
              <a:ext uri="{FF2B5EF4-FFF2-40B4-BE49-F238E27FC236}">
                <a16:creationId xmlns:a16="http://schemas.microsoft.com/office/drawing/2014/main" id="{C3A07C26-A1F8-D4BC-0EC0-F283F3E32EA5}"/>
              </a:ext>
            </a:extLst>
          </p:cNvPr>
          <p:cNvGrpSpPr/>
          <p:nvPr/>
        </p:nvGrpSpPr>
        <p:grpSpPr>
          <a:xfrm>
            <a:off x="11582400" y="5447585"/>
            <a:ext cx="5254973" cy="3193256"/>
            <a:chOff x="0" y="0"/>
            <a:chExt cx="7006630" cy="4257675"/>
          </a:xfrm>
        </p:grpSpPr>
        <p:sp>
          <p:nvSpPr>
            <p:cNvPr id="59" name="Freeform 20">
              <a:extLst>
                <a:ext uri="{FF2B5EF4-FFF2-40B4-BE49-F238E27FC236}">
                  <a16:creationId xmlns:a16="http://schemas.microsoft.com/office/drawing/2014/main" id="{E4B7778D-8404-E253-BF79-41231DED9F06}"/>
                </a:ext>
              </a:extLst>
            </p:cNvPr>
            <p:cNvSpPr/>
            <p:nvPr/>
          </p:nvSpPr>
          <p:spPr>
            <a:xfrm>
              <a:off x="6350" y="6350"/>
              <a:ext cx="6994017" cy="4244975"/>
            </a:xfrm>
            <a:custGeom>
              <a:avLst/>
              <a:gdLst/>
              <a:ahLst/>
              <a:cxnLst/>
              <a:rect l="l" t="t" r="r" b="b"/>
              <a:pathLst>
                <a:path w="6994017" h="4244975">
                  <a:moveTo>
                    <a:pt x="0" y="907288"/>
                  </a:moveTo>
                  <a:cubicBezTo>
                    <a:pt x="0" y="406273"/>
                    <a:pt x="406654" y="0"/>
                    <a:pt x="908431" y="0"/>
                  </a:cubicBezTo>
                  <a:lnTo>
                    <a:pt x="6085586" y="0"/>
                  </a:lnTo>
                  <a:cubicBezTo>
                    <a:pt x="6587236" y="0"/>
                    <a:pt x="6994017" y="406273"/>
                    <a:pt x="6994017" y="907288"/>
                  </a:cubicBezTo>
                  <a:lnTo>
                    <a:pt x="6994017" y="3337687"/>
                  </a:lnTo>
                  <a:cubicBezTo>
                    <a:pt x="6994017" y="3838829"/>
                    <a:pt x="6587363" y="4244975"/>
                    <a:pt x="6085586" y="4244975"/>
                  </a:cubicBezTo>
                  <a:lnTo>
                    <a:pt x="908431" y="4244975"/>
                  </a:lnTo>
                  <a:cubicBezTo>
                    <a:pt x="406654" y="4244975"/>
                    <a:pt x="0" y="3838702"/>
                    <a:pt x="0" y="3337687"/>
                  </a:cubicBezTo>
                  <a:close/>
                </a:path>
              </a:pathLst>
            </a:custGeom>
            <a:solidFill>
              <a:srgbClr val="E1E1E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1">
              <a:extLst>
                <a:ext uri="{FF2B5EF4-FFF2-40B4-BE49-F238E27FC236}">
                  <a16:creationId xmlns:a16="http://schemas.microsoft.com/office/drawing/2014/main" id="{D5AB5DA2-7282-AC79-5435-CC90491742AB}"/>
                </a:ext>
              </a:extLst>
            </p:cNvPr>
            <p:cNvSpPr/>
            <p:nvPr/>
          </p:nvSpPr>
          <p:spPr>
            <a:xfrm>
              <a:off x="0" y="0"/>
              <a:ext cx="7006717" cy="4257675"/>
            </a:xfrm>
            <a:custGeom>
              <a:avLst/>
              <a:gdLst/>
              <a:ahLst/>
              <a:cxnLst/>
              <a:rect l="l" t="t" r="r" b="b"/>
              <a:pathLst>
                <a:path w="7006717" h="4257675">
                  <a:moveTo>
                    <a:pt x="0" y="913638"/>
                  </a:moveTo>
                  <a:cubicBezTo>
                    <a:pt x="0" y="409067"/>
                    <a:pt x="409575" y="0"/>
                    <a:pt x="914781" y="0"/>
                  </a:cubicBezTo>
                  <a:lnTo>
                    <a:pt x="6091936" y="0"/>
                  </a:lnTo>
                  <a:lnTo>
                    <a:pt x="6091936" y="6350"/>
                  </a:lnTo>
                  <a:lnTo>
                    <a:pt x="6091936" y="0"/>
                  </a:lnTo>
                  <a:cubicBezTo>
                    <a:pt x="6597142" y="0"/>
                    <a:pt x="7006717" y="409067"/>
                    <a:pt x="7006717" y="913638"/>
                  </a:cubicBezTo>
                  <a:lnTo>
                    <a:pt x="7000367" y="913638"/>
                  </a:lnTo>
                  <a:lnTo>
                    <a:pt x="7006717" y="913638"/>
                  </a:lnTo>
                  <a:lnTo>
                    <a:pt x="7006717" y="3344037"/>
                  </a:lnTo>
                  <a:lnTo>
                    <a:pt x="7000367" y="3344037"/>
                  </a:lnTo>
                  <a:lnTo>
                    <a:pt x="7006717" y="3344037"/>
                  </a:lnTo>
                  <a:cubicBezTo>
                    <a:pt x="7006717" y="3848608"/>
                    <a:pt x="6597142" y="4257675"/>
                    <a:pt x="6091936" y="4257675"/>
                  </a:cubicBezTo>
                  <a:lnTo>
                    <a:pt x="6091936" y="4251325"/>
                  </a:lnTo>
                  <a:lnTo>
                    <a:pt x="6091936" y="4257675"/>
                  </a:lnTo>
                  <a:lnTo>
                    <a:pt x="914781" y="4257675"/>
                  </a:lnTo>
                  <a:lnTo>
                    <a:pt x="914781" y="4251325"/>
                  </a:lnTo>
                  <a:lnTo>
                    <a:pt x="914781" y="4257675"/>
                  </a:lnTo>
                  <a:cubicBezTo>
                    <a:pt x="409575" y="4257675"/>
                    <a:pt x="0" y="3848608"/>
                    <a:pt x="0" y="3344037"/>
                  </a:cubicBezTo>
                  <a:lnTo>
                    <a:pt x="0" y="913638"/>
                  </a:lnTo>
                  <a:lnTo>
                    <a:pt x="6350" y="913638"/>
                  </a:lnTo>
                  <a:lnTo>
                    <a:pt x="0" y="913638"/>
                  </a:lnTo>
                  <a:moveTo>
                    <a:pt x="12700" y="913638"/>
                  </a:moveTo>
                  <a:lnTo>
                    <a:pt x="12700" y="3344037"/>
                  </a:lnTo>
                  <a:lnTo>
                    <a:pt x="6350" y="3344037"/>
                  </a:lnTo>
                  <a:lnTo>
                    <a:pt x="12700" y="3344037"/>
                  </a:lnTo>
                  <a:cubicBezTo>
                    <a:pt x="12700" y="3841623"/>
                    <a:pt x="416560" y="4244975"/>
                    <a:pt x="914781" y="4244975"/>
                  </a:cubicBezTo>
                  <a:lnTo>
                    <a:pt x="6091936" y="4244975"/>
                  </a:lnTo>
                  <a:cubicBezTo>
                    <a:pt x="6590157" y="4244975"/>
                    <a:pt x="6994017" y="3841623"/>
                    <a:pt x="6994017" y="3344037"/>
                  </a:cubicBezTo>
                  <a:lnTo>
                    <a:pt x="6994017" y="913638"/>
                  </a:lnTo>
                  <a:cubicBezTo>
                    <a:pt x="6993890" y="416052"/>
                    <a:pt x="6590030" y="12700"/>
                    <a:pt x="6091936" y="12700"/>
                  </a:cubicBezTo>
                  <a:lnTo>
                    <a:pt x="914781" y="12700"/>
                  </a:lnTo>
                  <a:lnTo>
                    <a:pt x="914781" y="6350"/>
                  </a:lnTo>
                  <a:lnTo>
                    <a:pt x="914781" y="12700"/>
                  </a:lnTo>
                  <a:cubicBezTo>
                    <a:pt x="416560" y="12700"/>
                    <a:pt x="12700" y="416052"/>
                    <a:pt x="12700" y="913638"/>
                  </a:cubicBezTo>
                  <a:close/>
                </a:path>
              </a:pathLst>
            </a:custGeom>
            <a:solidFill>
              <a:srgbClr val="C7C7D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F81708F2-F2BE-BAA9-6E42-D33C55661804}"/>
              </a:ext>
            </a:extLst>
          </p:cNvPr>
          <p:cNvSpPr txBox="1"/>
          <p:nvPr/>
        </p:nvSpPr>
        <p:spPr>
          <a:xfrm>
            <a:off x="6287425" y="5737758"/>
            <a:ext cx="9151374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50" b="0" i="0" u="none" strike="noStrike" kern="1200" cap="none" spc="0" normalizeH="0" baseline="0" noProof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aleway"/>
                <a:ea typeface="Raleway"/>
                <a:cs typeface="Raleway"/>
                <a:sym typeface="Raleway"/>
              </a:rPr>
              <a:t>Robust Architecture</a:t>
            </a:r>
            <a:endParaRPr kumimoji="0" lang="en-US" sz="2750" b="0" i="0" u="none" strike="noStrike" kern="1200" cap="none" spc="0" normalizeH="0" baseline="0" noProof="0" dirty="0">
              <a:ln>
                <a:noFill/>
              </a:ln>
              <a:solidFill>
                <a:srgbClr val="3C3939"/>
              </a:solidFill>
              <a:effectLst/>
              <a:uLnTx/>
              <a:uFillTx/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84B820-4180-9F10-760F-E20C87AC3206}"/>
              </a:ext>
            </a:extLst>
          </p:cNvPr>
          <p:cNvSpPr txBox="1"/>
          <p:nvPr/>
        </p:nvSpPr>
        <p:spPr>
          <a:xfrm>
            <a:off x="11800201" y="5775858"/>
            <a:ext cx="9151374" cy="50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50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aleway"/>
                <a:ea typeface="Raleway"/>
                <a:cs typeface="Raleway"/>
                <a:sym typeface="Raleway"/>
              </a:rPr>
              <a:t>User-Centric Design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53590C-3B6D-EE77-2F0B-6FFEA983870A}"/>
              </a:ext>
            </a:extLst>
          </p:cNvPr>
          <p:cNvSpPr txBox="1"/>
          <p:nvPr/>
        </p:nvSpPr>
        <p:spPr>
          <a:xfrm>
            <a:off x="6183357" y="6171004"/>
            <a:ext cx="4941843" cy="97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87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✓ 5 REST API endpoints supporting diverse analysis types.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31C679D-46E7-3389-132D-6EAE3FDFA723}"/>
              </a:ext>
            </a:extLst>
          </p:cNvPr>
          <p:cNvSpPr txBox="1"/>
          <p:nvPr/>
        </p:nvSpPr>
        <p:spPr>
          <a:xfrm>
            <a:off x="6183357" y="7120803"/>
            <a:ext cx="4941843" cy="97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87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✓ </a:t>
            </a:r>
            <a:r>
              <a:rPr kumimoji="0" lang="en-US" sz="2187" b="0" i="0" u="none" strike="noStrike" kern="1200" cap="none" spc="0" normalizeH="0" baseline="0" noProof="0" dirty="0" err="1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Supabase</a:t>
            </a:r>
            <a:r>
              <a:rPr kumimoji="0" lang="en-US" sz="2187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 database implemented for reliable result persistence.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CAF85F1-CB88-52FA-F311-DB6B562EB854}"/>
              </a:ext>
            </a:extLst>
          </p:cNvPr>
          <p:cNvSpPr txBox="1"/>
          <p:nvPr/>
        </p:nvSpPr>
        <p:spPr>
          <a:xfrm>
            <a:off x="11762028" y="6279586"/>
            <a:ext cx="4544772" cy="997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87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✓ 5 intuitive React components for an engaging user interface.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A76D7AA-DD1D-27DF-C09A-2F7B9B259244}"/>
              </a:ext>
            </a:extLst>
          </p:cNvPr>
          <p:cNvSpPr txBox="1"/>
          <p:nvPr/>
        </p:nvSpPr>
        <p:spPr>
          <a:xfrm>
            <a:off x="11796441" y="7208788"/>
            <a:ext cx="4830541" cy="97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6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87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✓ Real-time analytics dashboard with clear </a:t>
            </a:r>
            <a:r>
              <a:rPr kumimoji="0" lang="en-US" sz="2187" b="0" i="0" u="none" strike="noStrike" kern="1200" cap="none" spc="0" normalizeH="0" baseline="0" noProof="0" dirty="0" err="1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visualisations</a:t>
            </a:r>
            <a:r>
              <a:rPr kumimoji="0" lang="en-US" sz="2187" b="0" i="0" u="none" strike="noStrike" kern="1200" cap="none" spc="0" normalizeH="0" baseline="0" noProof="0" dirty="0">
                <a:ln>
                  <a:noFill/>
                </a:ln>
                <a:solidFill>
                  <a:srgbClr val="3C3939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42070" y="633115"/>
            <a:ext cx="6015484" cy="780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Future Scope</a:t>
            </a:r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842070" y="1774477"/>
            <a:ext cx="1202977" cy="1771353"/>
            <a:chOff x="0" y="0"/>
            <a:chExt cx="1603970" cy="2361803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604010" cy="2361819"/>
            </a:xfrm>
            <a:custGeom>
              <a:avLst/>
              <a:gdLst/>
              <a:ahLst/>
              <a:cxnLst/>
              <a:rect l="l" t="t" r="r" b="b"/>
              <a:pathLst>
                <a:path w="1604010" h="2361819">
                  <a:moveTo>
                    <a:pt x="0" y="0"/>
                  </a:moveTo>
                  <a:lnTo>
                    <a:pt x="1604010" y="0"/>
                  </a:lnTo>
                  <a:lnTo>
                    <a:pt x="1604010" y="2361819"/>
                  </a:lnTo>
                  <a:lnTo>
                    <a:pt x="0" y="2361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6" r="2" b="-1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285554" y="1986409"/>
            <a:ext cx="3007667" cy="40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Predictive Analytics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85554" y="2449562"/>
            <a:ext cx="8302377" cy="85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Implement advanced models to forecast future product ratings and evolving customer sentiment trends. This will allow proactive strategic adjustments.</a:t>
            </a: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842070" y="3545830"/>
            <a:ext cx="1202977" cy="2156371"/>
            <a:chOff x="0" y="0"/>
            <a:chExt cx="1603970" cy="2875162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604010" cy="2875153"/>
            </a:xfrm>
            <a:custGeom>
              <a:avLst/>
              <a:gdLst/>
              <a:ahLst/>
              <a:cxnLst/>
              <a:rect l="l" t="t" r="r" b="b"/>
              <a:pathLst>
                <a:path w="1604010" h="2875153">
                  <a:moveTo>
                    <a:pt x="0" y="0"/>
                  </a:moveTo>
                  <a:lnTo>
                    <a:pt x="1604010" y="0"/>
                  </a:lnTo>
                  <a:lnTo>
                    <a:pt x="1604010" y="2875153"/>
                  </a:lnTo>
                  <a:lnTo>
                    <a:pt x="0" y="2875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1" r="2" b="-3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285554" y="3757761"/>
            <a:ext cx="4657725" cy="40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E-commerce Platform Integration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85554" y="4220915"/>
            <a:ext cx="8302377" cy="124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Integrate seamlessly with major e-commerce platforms like Shopify, Amazon, and Flipkart for automated, real-time review monitoring and instant feedback loops.</a:t>
            </a:r>
          </a:p>
        </p:txBody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842070" y="5702201"/>
            <a:ext cx="1202977" cy="1771353"/>
            <a:chOff x="0" y="0"/>
            <a:chExt cx="1603970" cy="2361803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604010" cy="2361819"/>
            </a:xfrm>
            <a:custGeom>
              <a:avLst/>
              <a:gdLst/>
              <a:ahLst/>
              <a:cxnLst/>
              <a:rect l="l" t="t" r="r" b="b"/>
              <a:pathLst>
                <a:path w="1604010" h="2361819">
                  <a:moveTo>
                    <a:pt x="0" y="0"/>
                  </a:moveTo>
                  <a:lnTo>
                    <a:pt x="1604010" y="0"/>
                  </a:lnTo>
                  <a:lnTo>
                    <a:pt x="1604010" y="2361819"/>
                  </a:lnTo>
                  <a:lnTo>
                    <a:pt x="0" y="2361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26" r="2" b="-1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285554" y="5914133"/>
            <a:ext cx="4241750" cy="40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Personalised User Dashboards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85554" y="6377285"/>
            <a:ext cx="8302377" cy="855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Develop customised dashboards offering personalised insights tailored specifically for various stakeholders, including sellers and product teams.</a:t>
            </a:r>
          </a:p>
        </p:txBody>
      </p: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842070" y="7473554"/>
            <a:ext cx="1202977" cy="2156371"/>
            <a:chOff x="0" y="0"/>
            <a:chExt cx="1603970" cy="2875162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1604010" cy="2875153"/>
            </a:xfrm>
            <a:custGeom>
              <a:avLst/>
              <a:gdLst/>
              <a:ahLst/>
              <a:cxnLst/>
              <a:rect l="l" t="t" r="r" b="b"/>
              <a:pathLst>
                <a:path w="1604010" h="2875153">
                  <a:moveTo>
                    <a:pt x="0" y="0"/>
                  </a:moveTo>
                  <a:lnTo>
                    <a:pt x="1604010" y="0"/>
                  </a:lnTo>
                  <a:lnTo>
                    <a:pt x="1604010" y="2875153"/>
                  </a:lnTo>
                  <a:lnTo>
                    <a:pt x="0" y="2875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1" r="2" b="-3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285554" y="7685485"/>
            <a:ext cx="5153769" cy="404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2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Automated Recommendation Engine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85554" y="8148637"/>
            <a:ext cx="8302377" cy="124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Build an intelligent recommendation engine to suggest actionable improvements based on identified review patterns and emerging sentiment shifts.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39CC788-C6C4-68E3-8D3F-DF6CFCB05C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99378" y="45930"/>
            <a:ext cx="5388622" cy="91923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3D8B1-E528-57C4-5FBC-C392CA042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7FCCECA-10A0-B85E-C6F3-474DA65096A4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95E88A6-6C74-CC54-E9C4-4432251A3060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1CA68EC-1A19-38B7-D826-FEB56F5E4B95}"/>
              </a:ext>
            </a:extLst>
          </p:cNvPr>
          <p:cNvGrpSpPr/>
          <p:nvPr/>
        </p:nvGrpSpPr>
        <p:grpSpPr>
          <a:xfrm>
            <a:off x="-16429" y="8603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6F09D79-2CB3-36E6-DBBF-9A9642DBCD65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BF6F037F-B4CD-7E94-842C-D1B752D1EE21}"/>
              </a:ext>
            </a:extLst>
          </p:cNvPr>
          <p:cNvSpPr txBox="1"/>
          <p:nvPr/>
        </p:nvSpPr>
        <p:spPr>
          <a:xfrm>
            <a:off x="992238" y="1798141"/>
            <a:ext cx="7737127" cy="834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Conclusion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E76EC0-D771-789F-3721-108B4521275C}"/>
              </a:ext>
            </a:extLst>
          </p:cNvPr>
          <p:cNvSpPr txBox="1"/>
          <p:nvPr/>
        </p:nvSpPr>
        <p:spPr>
          <a:xfrm>
            <a:off x="685800" y="3238500"/>
            <a:ext cx="12115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Our project successfully delivers a fast, accurate, and scalable system for </a:t>
            </a:r>
            <a:r>
              <a:rPr lang="en-US" sz="2400" dirty="0" err="1"/>
              <a:t>analysing</a:t>
            </a:r>
            <a:r>
              <a:rPr lang="en-US" sz="2400" dirty="0"/>
              <a:t> e-commerce product reviews using a fine-tuned </a:t>
            </a:r>
            <a:r>
              <a:rPr lang="en-US" sz="2400" dirty="0" err="1"/>
              <a:t>DistilBERT</a:t>
            </a:r>
            <a:r>
              <a:rPr lang="en-US" sz="2400" dirty="0"/>
              <a:t> model. With over 91% accuracy and real-time prediction capability, it provides meaningful sentiment insights and supports deeper understanding of customer feedback. The integration of a modern UI, robust backend, and analytics dashboard makes the solution practical for real-world adoption. This system lays a strong foundation for future enhancements such as predictive analytics, platform integration, and intelligent recommendation engines.</a:t>
            </a:r>
          </a:p>
        </p:txBody>
      </p:sp>
      <p:pic>
        <p:nvPicPr>
          <p:cNvPr id="23" name="Picture 2" descr="Requirement - Free files and folders icons">
            <a:extLst>
              <a:ext uri="{FF2B5EF4-FFF2-40B4-BE49-F238E27FC236}">
                <a16:creationId xmlns:a16="http://schemas.microsoft.com/office/drawing/2014/main" id="{C15E0631-6560-AA28-EAF8-A32C49D22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8800" y="1257300"/>
            <a:ext cx="5406692" cy="5406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013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707</Words>
  <Application>Microsoft Office PowerPoint</Application>
  <PresentationFormat>Custom</PresentationFormat>
  <Paragraphs>131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Raleway</vt:lpstr>
      <vt:lpstr>Raleway Bold</vt:lpstr>
      <vt:lpstr>Calibri</vt:lpstr>
      <vt:lpstr>Arial</vt:lpstr>
      <vt:lpstr>Roboto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E-Commerce-Sentiment-Analysis-with-Fine-Tuned-DistilBERT.pptx</dc:title>
  <dc:creator>Yashwanth Seeram</dc:creator>
  <cp:lastModifiedBy>yashwanth seeram | AP23110010745</cp:lastModifiedBy>
  <cp:revision>3</cp:revision>
  <dcterms:created xsi:type="dcterms:W3CDTF">2006-08-16T00:00:00Z</dcterms:created>
  <dcterms:modified xsi:type="dcterms:W3CDTF">2025-12-10T11:54:56Z</dcterms:modified>
  <dc:identifier>DAG6ewpf5sE</dc:identifier>
</cp:coreProperties>
</file>